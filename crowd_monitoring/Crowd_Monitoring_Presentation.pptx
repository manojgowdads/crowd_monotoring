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E5FF"/>
                </a:solidFill>
                <a:latin typeface="Arial"/>
              </a:defRPr>
            </a:pPr>
            <a:r>
              <a:t>AI-POWERED AUTONOMOUS</a:t>
            </a:r>
            <a:br/>
            <a:r>
              <a:t>CROWD MONITORING &amp; IoT GATEWAY</a:t>
            </a:r>
          </a:p>
          <a:p>
            <a:pPr>
              <a:spcBef>
                <a:spcPts val="1500"/>
              </a:spcBef>
              <a:defRPr sz="1800">
                <a:solidFill>
                  <a:srgbClr val="C8C8C8"/>
                </a:solidFill>
                <a:latin typeface="Arial"/>
              </a:defRPr>
            </a:pPr>
            <a:r>
              <a:t>Real-Time Edge Intelligence, Computer Vision, &amp; Proactive Safety Actuation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Presenter: Manoj Gowda</a:t>
            </a:r>
            <a:br/>
            <a:r>
              <a:t>Domain: Intelligent Edge Systems &amp; IoT Automation</a:t>
            </a:r>
            <a:br/>
            <a:r>
              <a:t>Event: Tech Expo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  <a:latin typeface="Arial"/>
              </a:defRPr>
            </a:pPr>
            <a:r>
              <a:t>THE CHALLENGE: PUBLIC HAZARDS &amp; PASSIVE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FD600"/>
                </a:solidFill>
                <a:latin typeface="Arial"/>
              </a:defRPr>
            </a:pPr>
            <a:r>
              <a:t>🔴 The Crowd Hazard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Rapid urban clustering, massive transit hubs, and commercial gatherings scale physical stampede risks exponentially.</a:t>
            </a:r>
          </a:p>
          <a:p>
            <a:pPr>
              <a:spcBef>
                <a:spcPts val="1200"/>
              </a:spcBef>
              <a:defRPr sz="1800" b="1">
                <a:solidFill>
                  <a:srgbClr val="FFD600"/>
                </a:solidFill>
                <a:latin typeface="Arial"/>
              </a:defRPr>
            </a:pPr>
            <a:r>
              <a:t>🔴 Passive CCTV Limitations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Traditional CCTV cameras act purely as standard 'witnesses'—they record incidents instead of actively preventing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FD600"/>
                </a:solidFill>
                <a:latin typeface="Arial"/>
              </a:defRPr>
            </a:pPr>
            <a:r>
              <a:t>🔴 The Human Guard Bottleneck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Guards experience severe cognitive fatigue. Watching dozens of feeds leads to a 90% drop in active observation after 20 minutes.</a:t>
            </a:r>
          </a:p>
          <a:p>
            <a:pPr>
              <a:spcBef>
                <a:spcPts val="1200"/>
              </a:spcBef>
              <a:defRPr sz="1800" b="1">
                <a:solidFill>
                  <a:srgbClr val="FFD600"/>
                </a:solidFill>
                <a:latin typeface="Arial"/>
              </a:defRPr>
            </a:pPr>
            <a:r>
              <a:t>🔴 Disconnected Infrastructure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Traditional camera analytics do not integrate with building hardware, leaving exits, locks, and sirens dumb and manual.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  <a:latin typeface="Arial"/>
              </a:defRPr>
            </a:pPr>
            <a:r>
              <a:t>THE SOLUTION: ACTIVE EDGE INTELLIGENCE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0E5FF"/>
                </a:solidFill>
                <a:latin typeface="Arial"/>
              </a:defRPr>
            </a:pPr>
            <a:r>
              <a:t>⚡ Active AI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Shifts security cameras from mere recorders to proactive system decision-makers controlling physical triggers in real-time.</a:t>
            </a:r>
          </a:p>
          <a:p>
            <a:pPr>
              <a:spcBef>
                <a:spcPts val="1200"/>
              </a:spcBef>
              <a:defRPr sz="1800" b="1">
                <a:solidFill>
                  <a:srgbClr val="00E5FF"/>
                </a:solidFill>
                <a:latin typeface="Arial"/>
              </a:defRPr>
            </a:pPr>
            <a:r>
              <a:t>⚡ Edge-First Operations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Runs full deep-learning algorithms locally on local servers, eliminating latency and securing continuous offline function.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0E5FF"/>
                </a:solidFill>
                <a:latin typeface="Arial"/>
              </a:defRPr>
            </a:pPr>
            <a:r>
              <a:t>⚡ Unified Hardware Integration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Connects deep AI insights with standard physical devices (alarms, automatic gates) using standard lightweight messaging.</a:t>
            </a:r>
          </a:p>
          <a:p>
            <a:pPr>
              <a:spcBef>
                <a:spcPts val="1200"/>
              </a:spcBef>
              <a:defRPr sz="1800" b="1">
                <a:solidFill>
                  <a:srgbClr val="00E5FF"/>
                </a:solidFill>
                <a:latin typeface="Arial"/>
              </a:defRPr>
            </a:pPr>
            <a:r>
              <a:t>⚡ Automated Safety Actuation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Instantaneous alarm triggers and smart magnetic lock deployments during peak crowd density or panic detections.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  <a:latin typeface="Arial"/>
              </a:defRPr>
            </a:pPr>
            <a:r>
              <a:t>SYSTEM PIPELINE &amp; MODULAR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500" b="1">
                <a:solidFill>
                  <a:srgbClr val="00E5FF"/>
                </a:solidFill>
                <a:latin typeface="Arial"/>
              </a:rPr>
              <a:t>1. High-Speed Visual Capture  ➔  </a:t>
            </a:r>
            <a:r>
              <a:rPr sz="1500" b="0">
                <a:solidFill>
                  <a:srgbClr val="FFFFFF"/>
                </a:solidFill>
                <a:latin typeface="Arial"/>
              </a:rPr>
              <a:t>Captures raw high-definition video frames from standard surveillance cameras or local webcam devices.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E5FF"/>
                </a:solidFill>
                <a:latin typeface="Arial"/>
              </a:rPr>
              <a:t>2. Real-Time Tracking Core  ➔  </a:t>
            </a:r>
            <a:r>
              <a:rPr sz="1500" b="0">
                <a:solidFill>
                  <a:srgbClr val="FFFFFF"/>
                </a:solidFill>
                <a:latin typeface="Arial"/>
              </a:rPr>
              <a:t>YOLOv8 Edge AI detects objects, and the ByteTrack algorithm maps unique IDs persistently to tracks.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E5FF"/>
                </a:solidFill>
                <a:latin typeface="Arial"/>
              </a:rPr>
              <a:t>3. Local Relational Storage  ➔  </a:t>
            </a:r>
            <a:r>
              <a:rPr sz="1500" b="0">
                <a:solidFill>
                  <a:srgbClr val="FFFFFF"/>
                </a:solidFill>
                <a:latin typeface="Arial"/>
              </a:rPr>
              <a:t>Database logs crowd thresholds and manages user security credentials with robust Bcrypt hashing.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E5FF"/>
                </a:solidFill>
                <a:latin typeface="Arial"/>
              </a:rPr>
              <a:t>4. RESTful API &amp; MQTT Broker  ➔  </a:t>
            </a:r>
            <a:r>
              <a:rPr sz="1500" b="0">
                <a:solidFill>
                  <a:srgbClr val="FFFFFF"/>
                </a:solidFill>
                <a:latin typeface="Arial"/>
              </a:rPr>
              <a:t>Flask exposes live status JSON endpoints, while Paho-MQTT publishes instant telemetry signals.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E5FF"/>
                </a:solidFill>
                <a:latin typeface="Arial"/>
              </a:rPr>
              <a:t>5. Autonomous Actuation  ➔  </a:t>
            </a:r>
            <a:r>
              <a:rPr sz="1500" b="0">
                <a:solidFill>
                  <a:srgbClr val="FFFFFF"/>
                </a:solidFill>
                <a:latin typeface="Arial"/>
              </a:rPr>
              <a:t>External IoT devices (buzzers, smart door relays) subscribe to MQTT, engaging instantly during triggers.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  <a:latin typeface="Arial"/>
              </a:defRPr>
            </a:pPr>
            <a:r>
              <a:t>CORE TECH STACK: STABLE, SOTA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Arial"/>
              </a:defRPr>
            </a:pPr>
            <a:r>
              <a:t>🔳 ARTIFICIAL INTELLIGENCE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YOLOv8 Object Detection (Ultra-fast, accurate)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ByteTrack Multi-Object ID Persistence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Homography Transformation (2D to 3D mapping)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Arial"/>
              </a:defRPr>
            </a:pPr>
            <a:r>
              <a:t>🔳 INTEGRATED NETWORKING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Paho-MQTT Protocol (Ultra-low latency telemetry)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Flask Server (Headless RESTful API Gateway)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JSON-Based Data Payload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Arial"/>
              </a:defRPr>
            </a:pPr>
            <a:r>
              <a:t>🔳 CORE UTILITIES &amp; STORAGE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Bcrypt Library (One-way hashed password credentials)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SQLite relational database (Offline edge file)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NumPy &amp; Math (Matrix operations)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114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Arial"/>
              </a:defRPr>
            </a:pPr>
            <a:r>
              <a:t>🔳 ANALYTICS &amp; VISUALS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Streamlit Dashboard (Interactive control hub)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Pandas DataFrames (Live analytical engine)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Altair Vector Plots (Interactive trend curves)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  <a:latin typeface="Arial"/>
              </a:defRPr>
            </a:pPr>
            <a:r>
              <a:t>THE DYNAMIC INTERACTIVE SECURITY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FD600"/>
                </a:solidFill>
                <a:latin typeface="Arial"/>
              </a:defRPr>
            </a:pPr>
            <a:r>
              <a:t>🎛️ 3D Bird's-Eye Radar View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Translates raw 2D camera coordinates into a flat 3D coordinate model, giving real-time grid positioning of crowd density.</a:t>
            </a:r>
          </a:p>
          <a:p>
            <a:pPr>
              <a:spcBef>
                <a:spcPts val="1200"/>
              </a:spcBef>
              <a:defRPr sz="1800" b="1">
                <a:solidFill>
                  <a:srgbClr val="FFD600"/>
                </a:solidFill>
                <a:latin typeface="Arial"/>
              </a:defRPr>
            </a:pPr>
            <a:r>
              <a:t>🎛️ Zone Boundary Breaches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Define virtual restricted gates. The system automatically alerts and logs timestamps of unauthorized border breaches.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FD600"/>
                </a:solidFill>
                <a:latin typeface="Arial"/>
              </a:defRPr>
            </a:pPr>
            <a:r>
              <a:t>🎛️ Panic &amp; Anomaly Tracking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Computes relative velocities of tracked elements. Sudden speed spikes flag dynamic running/panic instances instantly.</a:t>
            </a:r>
          </a:p>
          <a:p>
            <a:pPr>
              <a:spcBef>
                <a:spcPts val="1200"/>
              </a:spcBef>
              <a:defRPr sz="1800" b="1">
                <a:solidFill>
                  <a:srgbClr val="FFD600"/>
                </a:solidFill>
                <a:latin typeface="Arial"/>
              </a:defRPr>
            </a:pPr>
            <a:r>
              <a:t>🎛️ AI Gender Estimation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Supports high-speed gender analysis simulation, logging visitor demographics for commercial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  <a:latin typeface="Arial"/>
              </a:defRPr>
            </a:pPr>
            <a:r>
              <a:t>PRACTICAL APPLICATIONS &amp; PUBLIC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0E5FF"/>
                </a:solidFill>
                <a:latin typeface="Arial"/>
              </a:defRPr>
            </a:pPr>
            <a:r>
              <a:t>🏢 Public Transit Infrastructure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Platform overcrowding detection at railway and metro terminals, linking alerts directly to gate access and traffic controls.</a:t>
            </a:r>
          </a:p>
          <a:p>
            <a:pPr>
              <a:spcBef>
                <a:spcPts val="1200"/>
              </a:spcBef>
              <a:defRPr sz="1800" b="1">
                <a:solidFill>
                  <a:srgbClr val="00E5FF"/>
                </a:solidFill>
                <a:latin typeface="Arial"/>
              </a:defRPr>
            </a:pPr>
            <a:r>
              <a:t>🏢 Stadiums &amp; Mass Events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Tracks bottlenecking points at exits and food courts, automating queue routing to prevent crush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0E5FF"/>
                </a:solidFill>
                <a:latin typeface="Arial"/>
              </a:defRPr>
            </a:pPr>
            <a:r>
              <a:t>🏢 Active Emergency Routing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Computes BFS escape paths in real-time, avoiding dense clusters and lighting smart exit paths dynamically.</a:t>
            </a:r>
          </a:p>
          <a:p>
            <a:pPr>
              <a:spcBef>
                <a:spcPts val="1200"/>
              </a:spcBef>
              <a:defRPr sz="1800" b="1">
                <a:solidFill>
                  <a:srgbClr val="00E5FF"/>
                </a:solidFill>
                <a:latin typeface="Arial"/>
              </a:defRPr>
            </a:pPr>
            <a:r>
              <a:t>🏢 Smart Buildings &amp; Retail Analytics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Logs detailed customer traffic flow, demographic distributions, and loitering warnings in restricted halls.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  <a:latin typeface="Arial"/>
              </a:defRPr>
            </a:pPr>
            <a:r>
              <a:t>FUTURE ENHANCEMENTS: BEHAVIORAL DE-ESCALATION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0E5FF"/>
                </a:solidFill>
                <a:latin typeface="Arial"/>
              </a:defRPr>
            </a:pPr>
            <a:r>
              <a:t>🚀 Behavioral De-escalation IoT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Leverages ambient smart lighting (soothing blue/green hues) and automated calming speech prompts to de-escalate crowd panic at triggers.</a:t>
            </a:r>
          </a:p>
          <a:p>
            <a:pPr>
              <a:spcBef>
                <a:spcPts val="1200"/>
              </a:spcBef>
              <a:defRPr sz="1800" b="1">
                <a:solidFill>
                  <a:srgbClr val="00E5FF"/>
                </a:solidFill>
                <a:latin typeface="Arial"/>
              </a:defRPr>
            </a:pPr>
            <a:r>
              <a:t>🚀 Predictive Trend Forecasting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Integrates time-series deep neural networks (LSTM) to evaluate logged database history, forecasting overcrowding hours prior.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00E5FF"/>
                </a:solidFill>
                <a:latin typeface="Arial"/>
              </a:defRPr>
            </a:pPr>
            <a:r>
              <a:t>🚀 Dynamic Drone Integration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Deploys remote multi-camera networks with 5G Network Slicing to guarantee instant, high-speed telemetry in remote environments.</a:t>
            </a:r>
          </a:p>
          <a:p>
            <a:pPr>
              <a:spcBef>
                <a:spcPts val="1200"/>
              </a:spcBef>
              <a:defRPr sz="1800" b="1">
                <a:solidFill>
                  <a:srgbClr val="00E5FF"/>
                </a:solidFill>
                <a:latin typeface="Arial"/>
              </a:defRPr>
            </a:pPr>
            <a:r>
              <a:t>🚀 Blockchain Security Ledgers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Logs alerts to a decentralized blockchain ledger, offering unalterable, legally compliant data auditing.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